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9" r:id="rId1"/>
    <p:sldMasterId id="2147483681" r:id="rId2"/>
  </p:sldMasterIdLst>
  <p:notesMasterIdLst>
    <p:notesMasterId r:id="rId17"/>
  </p:notesMasterIdLst>
  <p:sldIdLst>
    <p:sldId id="256" r:id="rId3"/>
    <p:sldId id="258" r:id="rId4"/>
    <p:sldId id="259" r:id="rId5"/>
    <p:sldId id="260" r:id="rId6"/>
    <p:sldId id="261" r:id="rId7"/>
    <p:sldId id="262" r:id="rId8"/>
    <p:sldId id="301" r:id="rId9"/>
    <p:sldId id="308" r:id="rId10"/>
    <p:sldId id="307" r:id="rId11"/>
    <p:sldId id="306" r:id="rId12"/>
    <p:sldId id="305" r:id="rId13"/>
    <p:sldId id="304" r:id="rId14"/>
    <p:sldId id="309" r:id="rId15"/>
    <p:sldId id="265" r:id="rId16"/>
  </p:sldIdLst>
  <p:sldSz cx="9144000" cy="5143500" type="screen16x9"/>
  <p:notesSz cx="6858000" cy="9144000"/>
  <p:embeddedFontLst>
    <p:embeddedFont>
      <p:font typeface="Roboto" panose="02000000000000000000" pitchFamily="2" charset="0"/>
      <p:regular r:id="rId18"/>
      <p:bold r:id="rId19"/>
      <p:italic r:id="rId20"/>
      <p:boldItalic r:id="rId21"/>
    </p:embeddedFont>
    <p:embeddedFont>
      <p:font typeface="Roboto Medium" panose="02000000000000000000" pitchFamily="2" charset="0"/>
      <p:regular r:id="rId22"/>
      <p:bold r:id="rId23"/>
      <p:italic r:id="rId24"/>
      <p:bold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5533">
          <p15:clr>
            <a:srgbClr val="A4A3A4"/>
          </p15:clr>
        </p15:guide>
        <p15:guide id="2" pos="397">
          <p15:clr>
            <a:srgbClr val="9AA0A6"/>
          </p15:clr>
        </p15:guide>
        <p15:guide id="3" orient="horz" pos="3240">
          <p15:clr>
            <a:srgbClr val="9AA0A6"/>
          </p15:clr>
        </p15:guide>
        <p15:guide id="4" orient="horz">
          <p15:clr>
            <a:srgbClr val="747775"/>
          </p15:clr>
        </p15:guide>
        <p15:guide id="5" orient="horz" pos="51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FE27160-EE70-478E-8643-84CA215F1B63}">
  <a:tblStyle styleId="{DFE27160-EE70-478E-8643-84CA215F1B6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9" d="100"/>
          <a:sy n="159" d="100"/>
        </p:scale>
        <p:origin x="234" y="126"/>
      </p:cViewPr>
      <p:guideLst>
        <p:guide pos="5533"/>
        <p:guide pos="397"/>
        <p:guide orient="horz" pos="3240"/>
        <p:guide orient="horz"/>
        <p:guide orient="horz" pos="51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font" Target="fonts/font1.fntdata"/><Relationship Id="rId26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font" Target="fonts/font4.fntdata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8.fntdata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font" Target="fonts/font3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7.fntdata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font" Target="fonts/font6.fntdata"/><Relationship Id="rId28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font" Target="fonts/font2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font" Target="fonts/font5.fntdata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3ce85d903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3ce85d903d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0f7d84ce1d_0_2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0f7d84ce1d_0_2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f98075b259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f98075b259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f98075b259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f98075b259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C1C7C685-B55E-019C-04AE-819AAD26E4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>
            <a:extLst>
              <a:ext uri="{FF2B5EF4-FFF2-40B4-BE49-F238E27FC236}">
                <a16:creationId xmlns:a16="http://schemas.microsoft.com/office/drawing/2014/main" id="{B54A2A8F-A60C-1535-5F5B-C7BB138998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>
            <a:extLst>
              <a:ext uri="{FF2B5EF4-FFF2-40B4-BE49-F238E27FC236}">
                <a16:creationId xmlns:a16="http://schemas.microsoft.com/office/drawing/2014/main" id="{2012B77B-6596-2B7E-E990-6BBE4FBA750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5491287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A47D4377-BA4A-6CD3-158C-996AB2D6B1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>
            <a:extLst>
              <a:ext uri="{FF2B5EF4-FFF2-40B4-BE49-F238E27FC236}">
                <a16:creationId xmlns:a16="http://schemas.microsoft.com/office/drawing/2014/main" id="{5B599791-6F13-C854-025E-9C60539949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>
            <a:extLst>
              <a:ext uri="{FF2B5EF4-FFF2-40B4-BE49-F238E27FC236}">
                <a16:creationId xmlns:a16="http://schemas.microsoft.com/office/drawing/2014/main" id="{FACCDAAC-837E-5700-8746-7A24DB35E2C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444124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59510A05-A3BD-428C-0C29-A00DDF065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>
            <a:extLst>
              <a:ext uri="{FF2B5EF4-FFF2-40B4-BE49-F238E27FC236}">
                <a16:creationId xmlns:a16="http://schemas.microsoft.com/office/drawing/2014/main" id="{56AC46D0-DD66-9C36-29DE-8E3C380CA6C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>
            <a:extLst>
              <a:ext uri="{FF2B5EF4-FFF2-40B4-BE49-F238E27FC236}">
                <a16:creationId xmlns:a16="http://schemas.microsoft.com/office/drawing/2014/main" id="{631DB028-F5DC-7E93-0B21-70570900EC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692419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E3E3CECF-D803-320A-6F79-6935AD80B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>
            <a:extLst>
              <a:ext uri="{FF2B5EF4-FFF2-40B4-BE49-F238E27FC236}">
                <a16:creationId xmlns:a16="http://schemas.microsoft.com/office/drawing/2014/main" id="{CEBDE061-104B-0AA8-766A-3AA1A68A078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>
            <a:extLst>
              <a:ext uri="{FF2B5EF4-FFF2-40B4-BE49-F238E27FC236}">
                <a16:creationId xmlns:a16="http://schemas.microsoft.com/office/drawing/2014/main" id="{F302EE29-F91D-0229-D5DC-C557C296EB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4309866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9A664E54-021E-79E7-DA6E-75526A1B9C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>
            <a:extLst>
              <a:ext uri="{FF2B5EF4-FFF2-40B4-BE49-F238E27FC236}">
                <a16:creationId xmlns:a16="http://schemas.microsoft.com/office/drawing/2014/main" id="{A7C3A992-0D1B-774D-0792-4E0E80F4B1F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>
            <a:extLst>
              <a:ext uri="{FF2B5EF4-FFF2-40B4-BE49-F238E27FC236}">
                <a16:creationId xmlns:a16="http://schemas.microsoft.com/office/drawing/2014/main" id="{6CCFB1AE-347C-512F-F000-E0BD3BFF41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9827060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30E740B4-BD53-44BE-2B76-87CAA3CF1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>
            <a:extLst>
              <a:ext uri="{FF2B5EF4-FFF2-40B4-BE49-F238E27FC236}">
                <a16:creationId xmlns:a16="http://schemas.microsoft.com/office/drawing/2014/main" id="{9AE545CE-A21A-F207-08BD-13CC4740A71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>
            <a:extLst>
              <a:ext uri="{FF2B5EF4-FFF2-40B4-BE49-F238E27FC236}">
                <a16:creationId xmlns:a16="http://schemas.microsoft.com/office/drawing/2014/main" id="{24336025-44AF-8C85-1053-0016C58D428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5266081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>
          <a:extLst>
            <a:ext uri="{FF2B5EF4-FFF2-40B4-BE49-F238E27FC236}">
              <a16:creationId xmlns:a16="http://schemas.microsoft.com/office/drawing/2014/main" id="{B50DD11A-D027-5C7C-5BDF-5698424A2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f98075b259_0_20:notes">
            <a:extLst>
              <a:ext uri="{FF2B5EF4-FFF2-40B4-BE49-F238E27FC236}">
                <a16:creationId xmlns:a16="http://schemas.microsoft.com/office/drawing/2014/main" id="{CAA4DA2E-C6FA-42E3-FDCB-9516AEE162D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f98075b259_0_20:notes">
            <a:extLst>
              <a:ext uri="{FF2B5EF4-FFF2-40B4-BE49-F238E27FC236}">
                <a16:creationId xmlns:a16="http://schemas.microsoft.com/office/drawing/2014/main" id="{3359BC78-A2DE-0C28-1E67-7F05FE491E0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7103036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30f7d84ce1d_0_3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2" name="Google Shape;232;g30f7d84ce1d_0_3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l="100" r="100"/>
          <a:stretch/>
        </p:blipFill>
        <p:spPr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500550" y="1784775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238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TITLE_AND_TWO_COLUMNS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pic>
        <p:nvPicPr>
          <p:cNvPr id="31" name="Google Shape;31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600"/>
              <a:buNone/>
              <a:defRPr sz="16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8"/>
          <p:cNvSpPr txBox="1">
            <a:spLocks noGrp="1"/>
          </p:cNvSpPr>
          <p:nvPr>
            <p:ph type="subTitle" idx="2"/>
          </p:nvPr>
        </p:nvSpPr>
        <p:spPr>
          <a:xfrm>
            <a:off x="3891775" y="2252801"/>
            <a:ext cx="5095200" cy="25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1">
  <p:cSld name="CUSTOM_2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2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12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Courier New"/>
              <a:buNone/>
              <a:defRPr sz="11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2">
  <p:cSld name="CUSTOM_2_1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ourier New"/>
              <a:buNone/>
              <a:defRPr sz="11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">
  <p:cSld name="CUSTOM_4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ubTitle" idx="1"/>
          </p:nvPr>
        </p:nvSpPr>
        <p:spPr>
          <a:xfrm>
            <a:off x="544050" y="1350425"/>
            <a:ext cx="5316300" cy="9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/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subTitle" idx="2"/>
          </p:nvPr>
        </p:nvSpPr>
        <p:spPr>
          <a:xfrm>
            <a:off x="795050" y="2220038"/>
            <a:ext cx="7568100" cy="23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2">
  <p:cSld name="CUSTOM_4_1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5"/>
          <p:cNvSpPr/>
          <p:nvPr/>
        </p:nvSpPr>
        <p:spPr>
          <a:xfrm>
            <a:off x="362300" y="1384249"/>
            <a:ext cx="4748700" cy="33933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subTitle" idx="1"/>
          </p:nvPr>
        </p:nvSpPr>
        <p:spPr>
          <a:xfrm>
            <a:off x="500550" y="1474819"/>
            <a:ext cx="44286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subTitle" idx="2"/>
          </p:nvPr>
        </p:nvSpPr>
        <p:spPr>
          <a:xfrm>
            <a:off x="5555275" y="1474819"/>
            <a:ext cx="3151200" cy="32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0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6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4">
            <a:alphaModFix/>
          </a:blip>
          <a:stretch>
            <a:fillRect/>
          </a:stretch>
        </a:blipFill>
        <a:effectLst/>
      </p:bgPr>
    </p:bg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7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18" name="Google Shape;118;p27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19" name="Google Shape;119;p2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35"/>
          <p:cNvPicPr preferRelativeResize="0"/>
          <p:nvPr/>
        </p:nvPicPr>
        <p:blipFill rotWithShape="1">
          <a:blip r:embed="rId3">
            <a:alphaModFix/>
          </a:blip>
          <a:srcRect l="18598" r="18592"/>
          <a:stretch/>
        </p:blipFill>
        <p:spPr>
          <a:xfrm>
            <a:off x="-75950" y="-3216975"/>
            <a:ext cx="9408753" cy="8360474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35"/>
          <p:cNvSpPr txBox="1"/>
          <p:nvPr/>
        </p:nvSpPr>
        <p:spPr>
          <a:xfrm>
            <a:off x="440213" y="1158524"/>
            <a:ext cx="7584300" cy="18466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 b="1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Организация прохождения </a:t>
            </a:r>
            <a:r>
              <a:rPr lang="ru-RU" sz="4000" b="1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медосмотров</a:t>
            </a:r>
            <a:r>
              <a:rPr lang="ru" sz="4000" b="1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 сотрудниками предприятий в поликлинике</a:t>
            </a:r>
            <a:endParaRPr sz="4500" b="1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48" name="Google Shape;148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13700" y="268875"/>
            <a:ext cx="822175" cy="284625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35"/>
          <p:cNvSpPr/>
          <p:nvPr/>
        </p:nvSpPr>
        <p:spPr>
          <a:xfrm>
            <a:off x="629700" y="4138025"/>
            <a:ext cx="2920500" cy="426600"/>
          </a:xfrm>
          <a:prstGeom prst="roundRect">
            <a:avLst>
              <a:gd name="adj" fmla="val 16667"/>
            </a:avLst>
          </a:prstGeom>
          <a:solidFill>
            <a:srgbClr val="3F299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0" name="Google Shape;150;p35"/>
          <p:cNvSpPr txBox="1"/>
          <p:nvPr/>
        </p:nvSpPr>
        <p:spPr>
          <a:xfrm>
            <a:off x="440213" y="4138025"/>
            <a:ext cx="3369801" cy="4477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900" dirty="0">
                <a:solidFill>
                  <a:srgbClr val="FFFFFF"/>
                </a:solidFill>
                <a:latin typeface="Roboto Medium"/>
                <a:ea typeface="Roboto Medium"/>
                <a:cs typeface="Roboto Medium"/>
                <a:sym typeface="Roboto Medium"/>
              </a:rPr>
              <a:t>Технический архитектор 1С</a:t>
            </a:r>
            <a:endParaRPr sz="100" dirty="0"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pic>
        <p:nvPicPr>
          <p:cNvPr id="151" name="Google Shape;151;p3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409723" y="3083693"/>
            <a:ext cx="1548451" cy="1669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37"/>
          <p:cNvSpPr txBox="1">
            <a:spLocks noGrp="1"/>
          </p:cNvSpPr>
          <p:nvPr>
            <p:ph type="title"/>
          </p:nvPr>
        </p:nvSpPr>
        <p:spPr>
          <a:xfrm>
            <a:off x="500550" y="313624"/>
            <a:ext cx="8520600" cy="184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000" dirty="0"/>
              <a:t>Защита проекта</a:t>
            </a:r>
            <a:endParaRPr sz="3000" dirty="0"/>
          </a:p>
          <a:p>
            <a:pPr lvl="0">
              <a:buSzPts val="1100"/>
            </a:pPr>
            <a:r>
              <a:rPr lang="ru" sz="3000" dirty="0"/>
              <a:t>Тема: </a:t>
            </a:r>
            <a:r>
              <a:rPr lang="ru-RU" sz="3000" dirty="0"/>
              <a:t>Организация прохождения медосмотров сотрудниками предприятий в поликлинике</a:t>
            </a:r>
            <a:endParaRPr sz="3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65" name="Google Shape;165;p37"/>
          <p:cNvSpPr txBox="1"/>
          <p:nvPr/>
        </p:nvSpPr>
        <p:spPr>
          <a:xfrm>
            <a:off x="3899475" y="2336401"/>
            <a:ext cx="3701700" cy="37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300" b="1" dirty="0">
                <a:solidFill>
                  <a:srgbClr val="3F299A"/>
                </a:solidFill>
                <a:latin typeface="Roboto"/>
                <a:ea typeface="Roboto"/>
                <a:cs typeface="Roboto"/>
                <a:sym typeface="Roboto"/>
              </a:rPr>
              <a:t>Губер Ксения</a:t>
            </a:r>
            <a:endParaRPr sz="2300" b="1" dirty="0">
              <a:solidFill>
                <a:srgbClr val="3F299A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6" name="Google Shape;166;p37"/>
          <p:cNvSpPr txBox="1"/>
          <p:nvPr/>
        </p:nvSpPr>
        <p:spPr>
          <a:xfrm>
            <a:off x="3899475" y="2893375"/>
            <a:ext cx="3193200" cy="6647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dirty="0">
                <a:latin typeface="Roboto Medium"/>
                <a:ea typeface="Roboto Medium"/>
                <a:cs typeface="Roboto Medium"/>
                <a:sym typeface="Roboto Medium"/>
              </a:rPr>
              <a:t>Разработчик одного из крупных интеграторов</a:t>
            </a:r>
            <a:endParaRPr sz="1300" dirty="0">
              <a:solidFill>
                <a:srgbClr val="000000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pic>
        <p:nvPicPr>
          <p:cNvPr id="2" name="Google Shape;291;p49">
            <a:extLst>
              <a:ext uri="{FF2B5EF4-FFF2-40B4-BE49-F238E27FC236}">
                <a16:creationId xmlns:a16="http://schemas.microsoft.com/office/drawing/2014/main" id="{ACFFBCA8-D028-BB26-1BA2-BC780811606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24687" y="2336401"/>
            <a:ext cx="1598985" cy="16761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38"/>
          <p:cNvSpPr txBox="1">
            <a:spLocks noGrp="1"/>
          </p:cNvSpPr>
          <p:nvPr>
            <p:ph type="title"/>
          </p:nvPr>
        </p:nvSpPr>
        <p:spPr>
          <a:xfrm>
            <a:off x="538550" y="348974"/>
            <a:ext cx="8520600" cy="66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План защиты</a:t>
            </a:r>
            <a:r>
              <a:rPr lang="en-US" dirty="0"/>
              <a:t> </a:t>
            </a:r>
            <a:r>
              <a:rPr lang="ru-RU" dirty="0"/>
              <a:t>проектной работы</a:t>
            </a:r>
            <a:endParaRPr dirty="0"/>
          </a:p>
        </p:txBody>
      </p:sp>
      <p:sp>
        <p:nvSpPr>
          <p:cNvPr id="172" name="Google Shape;172;p38"/>
          <p:cNvSpPr/>
          <p:nvPr/>
        </p:nvSpPr>
        <p:spPr>
          <a:xfrm>
            <a:off x="1138125" y="1491302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Цель и задачи проекта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3" name="Google Shape;173;p38"/>
          <p:cNvSpPr/>
          <p:nvPr/>
        </p:nvSpPr>
        <p:spPr>
          <a:xfrm>
            <a:off x="1138125" y="2071492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Какие технологии использовались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4" name="Google Shape;174;p38"/>
          <p:cNvSpPr/>
          <p:nvPr/>
        </p:nvSpPr>
        <p:spPr>
          <a:xfrm>
            <a:off x="1138125" y="2651676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 получилось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5" name="Google Shape;175;p38"/>
          <p:cNvSpPr/>
          <p:nvPr/>
        </p:nvSpPr>
        <p:spPr>
          <a:xfrm>
            <a:off x="1138125" y="3246225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Выводы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6" name="Google Shape;176;p38"/>
          <p:cNvCxnSpPr>
            <a:stCxn id="172" idx="1"/>
            <a:endCxn id="173" idx="1"/>
          </p:cNvCxnSpPr>
          <p:nvPr/>
        </p:nvCxnSpPr>
        <p:spPr>
          <a:xfrm>
            <a:off x="1138125" y="1679402"/>
            <a:ext cx="600" cy="5802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7" name="Google Shape;177;p38"/>
          <p:cNvCxnSpPr>
            <a:stCxn id="173" idx="1"/>
            <a:endCxn id="174" idx="1"/>
          </p:cNvCxnSpPr>
          <p:nvPr/>
        </p:nvCxnSpPr>
        <p:spPr>
          <a:xfrm>
            <a:off x="1138125" y="2259592"/>
            <a:ext cx="600" cy="5802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8" name="Google Shape;178;p38"/>
          <p:cNvCxnSpPr>
            <a:stCxn id="174" idx="1"/>
            <a:endCxn id="175" idx="1"/>
          </p:cNvCxnSpPr>
          <p:nvPr/>
        </p:nvCxnSpPr>
        <p:spPr>
          <a:xfrm>
            <a:off x="1138125" y="2839776"/>
            <a:ext cx="600" cy="5946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9" name="Google Shape;179;p38"/>
          <p:cNvCxnSpPr>
            <a:stCxn id="175" idx="1"/>
            <a:endCxn id="180" idx="1"/>
          </p:cNvCxnSpPr>
          <p:nvPr/>
        </p:nvCxnSpPr>
        <p:spPr>
          <a:xfrm>
            <a:off x="1138125" y="3434325"/>
            <a:ext cx="600" cy="5268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80" name="Google Shape;180;p38"/>
          <p:cNvSpPr/>
          <p:nvPr/>
        </p:nvSpPr>
        <p:spPr>
          <a:xfrm>
            <a:off x="1138137" y="3772875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Вопросы и рекомендации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39"/>
          <p:cNvSpPr txBox="1"/>
          <p:nvPr/>
        </p:nvSpPr>
        <p:spPr>
          <a:xfrm>
            <a:off x="560500" y="324881"/>
            <a:ext cx="8520600" cy="13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b="1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Цел</a:t>
            </a:r>
            <a:r>
              <a:rPr lang="ru" sz="3000" b="1">
                <a:latin typeface="Roboto"/>
                <a:ea typeface="Roboto"/>
                <a:cs typeface="Roboto"/>
                <a:sym typeface="Roboto"/>
              </a:rPr>
              <a:t>ь и задачи</a:t>
            </a:r>
            <a:r>
              <a:rPr lang="ru" sz="3000" b="1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проекта</a:t>
            </a:r>
            <a:endParaRPr sz="3000" b="1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86" name="Google Shape;186;p39"/>
          <p:cNvGraphicFramePr/>
          <p:nvPr>
            <p:extLst>
              <p:ext uri="{D42A27DB-BD31-4B8C-83A1-F6EECF244321}">
                <p14:modId xmlns:p14="http://schemas.microsoft.com/office/powerpoint/2010/main" val="3950177369"/>
              </p:ext>
            </p:extLst>
          </p:nvPr>
        </p:nvGraphicFramePr>
        <p:xfrm>
          <a:off x="952500" y="2382125"/>
          <a:ext cx="7239000" cy="2150722"/>
        </p:xfrm>
        <a:graphic>
          <a:graphicData uri="http://schemas.openxmlformats.org/drawingml/2006/table">
            <a:tbl>
              <a:tblPr>
                <a:noFill/>
                <a:tableStyleId>{DFE27160-EE70-478E-8643-84CA215F1B63}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Реализовать базовый процесс прохождения медосмотров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Организовать трансфер данных по заявкам на медосмотр через </a:t>
                      </a:r>
                      <a:r>
                        <a:rPr lang="en-U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RMQ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Отразить архитектуру процесса с помощью различных схем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Создать сценарные и </a:t>
                      </a:r>
                      <a:r>
                        <a:rPr lang="en-US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YaxUnit</a:t>
                      </a:r>
                      <a:r>
                        <a:rPr lang="en-U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тесты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87" name="Google Shape;187;p39"/>
          <p:cNvSpPr/>
          <p:nvPr/>
        </p:nvSpPr>
        <p:spPr>
          <a:xfrm>
            <a:off x="1628250" y="1386300"/>
            <a:ext cx="5887500" cy="6621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rPr>
              <a:t>Цель проекта: создать </a:t>
            </a:r>
            <a:r>
              <a:rPr lang="en-US" sz="1500" dirty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rPr>
              <a:t>MVP </a:t>
            </a:r>
            <a:r>
              <a:rPr lang="ru-RU" sz="1500" dirty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rPr>
              <a:t>для организации процесса прохождения медосмотров в поликлинике</a:t>
            </a:r>
            <a:endParaRPr sz="1500" dirty="0">
              <a:latin typeface="Roboto Medium"/>
              <a:ea typeface="Roboto Medium"/>
              <a:cs typeface="Roboto Medium"/>
              <a:sym typeface="Roboto Medium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4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dirty="0"/>
              <a:t>Какие технологии использовались</a:t>
            </a:r>
            <a:endParaRPr sz="3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 dirty="0"/>
          </a:p>
        </p:txBody>
      </p:sp>
      <p:graphicFrame>
        <p:nvGraphicFramePr>
          <p:cNvPr id="199" name="Google Shape;199;p40"/>
          <p:cNvGraphicFramePr/>
          <p:nvPr>
            <p:extLst>
              <p:ext uri="{D42A27DB-BD31-4B8C-83A1-F6EECF244321}">
                <p14:modId xmlns:p14="http://schemas.microsoft.com/office/powerpoint/2010/main" val="2116189793"/>
              </p:ext>
            </p:extLst>
          </p:nvPr>
        </p:nvGraphicFramePr>
        <p:xfrm>
          <a:off x="952500" y="1897775"/>
          <a:ext cx="7239000" cy="2219810"/>
        </p:xfrm>
        <a:graphic>
          <a:graphicData uri="http://schemas.openxmlformats.org/drawingml/2006/table">
            <a:tbl>
              <a:tblPr>
                <a:noFill/>
                <a:tableStyleId>{DFE27160-EE70-478E-8643-84CA215F1B63}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Платформа 1С:Предприятие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, Visual Studio Code</a:t>
                      </a:r>
                      <a:endParaRPr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Компонента для работы с 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RMQ </a:t>
                      </a:r>
                      <a:endParaRPr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Обработка для создания сценарных тестов 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Vanessa Automation</a:t>
                      </a:r>
                      <a:endParaRPr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ИИ-агент </a:t>
                      </a:r>
                      <a:endParaRPr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2" name="Google Shape;316;p49">
            <a:extLst>
              <a:ext uri="{FF2B5EF4-FFF2-40B4-BE49-F238E27FC236}">
                <a16:creationId xmlns:a16="http://schemas.microsoft.com/office/drawing/2014/main" id="{8B9F17E0-6F72-4B54-2A08-81AA24F9A9F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11191" y="3177229"/>
            <a:ext cx="508464" cy="50846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1"/>
          <p:cNvSpPr txBox="1">
            <a:spLocks noGrp="1"/>
          </p:cNvSpPr>
          <p:nvPr>
            <p:ph type="title"/>
          </p:nvPr>
        </p:nvSpPr>
        <p:spPr>
          <a:xfrm>
            <a:off x="500550" y="330725"/>
            <a:ext cx="8520600" cy="68594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dirty="0"/>
              <a:t>Метаданные конфигурации «</a:t>
            </a:r>
            <a:r>
              <a:rPr lang="en-US" sz="3000" dirty="0"/>
              <a:t>IT-</a:t>
            </a:r>
            <a:r>
              <a:rPr lang="ru-RU" sz="3000" dirty="0"/>
              <a:t>Клиника</a:t>
            </a:r>
            <a:r>
              <a:rPr lang="ru" sz="3000" dirty="0"/>
              <a:t>»</a:t>
            </a:r>
            <a:endParaRPr sz="30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83ED8AE-C36D-5D0D-E942-A32831316E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7623" y="1155031"/>
            <a:ext cx="2728224" cy="353728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>
          <a:extLst>
            <a:ext uri="{FF2B5EF4-FFF2-40B4-BE49-F238E27FC236}">
              <a16:creationId xmlns:a16="http://schemas.microsoft.com/office/drawing/2014/main" id="{8C27B6C6-F95E-74E3-0364-DAD8E06D1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1">
            <a:extLst>
              <a:ext uri="{FF2B5EF4-FFF2-40B4-BE49-F238E27FC236}">
                <a16:creationId xmlns:a16="http://schemas.microsoft.com/office/drawing/2014/main" id="{ED490238-B23B-EF97-3798-190E353D060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67391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dirty="0"/>
              <a:t>Бизнес-процесс </a:t>
            </a:r>
            <a:r>
              <a:rPr lang="en-US" sz="3000" dirty="0"/>
              <a:t>“As-Is” </a:t>
            </a:r>
            <a:r>
              <a:rPr lang="ru" sz="3000" dirty="0"/>
              <a:t>в нотации </a:t>
            </a:r>
            <a:r>
              <a:rPr lang="en-US" sz="3000" dirty="0"/>
              <a:t>BMPN</a:t>
            </a:r>
            <a:endParaRPr sz="3000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81F1FEE-BCEC-FC01-0DBB-35CDDAF10F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699" y="1004637"/>
            <a:ext cx="8520601" cy="3822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59809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>
          <a:extLst>
            <a:ext uri="{FF2B5EF4-FFF2-40B4-BE49-F238E27FC236}">
              <a16:creationId xmlns:a16="http://schemas.microsoft.com/office/drawing/2014/main" id="{B52FE5C8-86D2-CF46-6CB8-988936406D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1">
            <a:extLst>
              <a:ext uri="{FF2B5EF4-FFF2-40B4-BE49-F238E27FC236}">
                <a16:creationId xmlns:a16="http://schemas.microsoft.com/office/drawing/2014/main" id="{D46E5E5B-2448-CD74-CE20-D40CC5566C1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67391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dirty="0"/>
              <a:t>Бизнес-процесс </a:t>
            </a:r>
            <a:r>
              <a:rPr lang="en-US" sz="3000" dirty="0"/>
              <a:t>“To-Be” </a:t>
            </a:r>
            <a:r>
              <a:rPr lang="ru" sz="3000" dirty="0"/>
              <a:t>в нотации </a:t>
            </a:r>
            <a:r>
              <a:rPr lang="en-US" sz="3000" dirty="0"/>
              <a:t>BMPN</a:t>
            </a:r>
            <a:endParaRPr sz="30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67E5EFA-DC25-468F-1F80-85733FBD8F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271" y="931060"/>
            <a:ext cx="8716879" cy="3551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79450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>
          <a:extLst>
            <a:ext uri="{FF2B5EF4-FFF2-40B4-BE49-F238E27FC236}">
              <a16:creationId xmlns:a16="http://schemas.microsoft.com/office/drawing/2014/main" id="{79D6E4CD-FC6F-0241-7EB0-E76515E66A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1">
            <a:extLst>
              <a:ext uri="{FF2B5EF4-FFF2-40B4-BE49-F238E27FC236}">
                <a16:creationId xmlns:a16="http://schemas.microsoft.com/office/drawing/2014/main" id="{5E72D231-7C62-AAFA-67B0-00BBB082E52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2884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dirty="0"/>
              <a:t>Прототипы форм: АРМ медицинской комиссии и Медицинское заключение</a:t>
            </a:r>
            <a:endParaRPr sz="30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70DFB6D-79DD-09E4-1459-1FE86D8561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832" y="1903996"/>
            <a:ext cx="4813280" cy="1807745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08429C7-C590-AE33-DC9B-20F80DBFDF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8014" y="1498250"/>
            <a:ext cx="3302243" cy="2959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57796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>
          <a:extLst>
            <a:ext uri="{FF2B5EF4-FFF2-40B4-BE49-F238E27FC236}">
              <a16:creationId xmlns:a16="http://schemas.microsoft.com/office/drawing/2014/main" id="{DF18BCC1-E79E-0416-6FAD-2F713C424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1">
            <a:extLst>
              <a:ext uri="{FF2B5EF4-FFF2-40B4-BE49-F238E27FC236}">
                <a16:creationId xmlns:a16="http://schemas.microsoft.com/office/drawing/2014/main" id="{EA7A8BB6-639E-DA20-4ABF-6601B341B5C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63781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dirty="0"/>
              <a:t>Модель </a:t>
            </a:r>
            <a:r>
              <a:rPr lang="en-US" sz="3000" dirty="0"/>
              <a:t>C4 </a:t>
            </a:r>
            <a:r>
              <a:rPr lang="ru-RU" sz="3000" dirty="0"/>
              <a:t>процесса медосмотра</a:t>
            </a:r>
            <a:endParaRPr sz="3000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1A741DB-72BB-DDC2-1888-1A4BFE957F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6998" y="894368"/>
            <a:ext cx="6978316" cy="3918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45081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>
          <a:extLst>
            <a:ext uri="{FF2B5EF4-FFF2-40B4-BE49-F238E27FC236}">
              <a16:creationId xmlns:a16="http://schemas.microsoft.com/office/drawing/2014/main" id="{54511625-CE0F-C7F8-D329-9FD0112B13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1">
            <a:extLst>
              <a:ext uri="{FF2B5EF4-FFF2-40B4-BE49-F238E27FC236}">
                <a16:creationId xmlns:a16="http://schemas.microsoft.com/office/drawing/2014/main" id="{CACBEE58-006E-9058-4E19-3855CD5570C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60172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dirty="0"/>
              <a:t>ER-</a:t>
            </a:r>
            <a:r>
              <a:rPr lang="ru-RU" sz="3000" dirty="0"/>
              <a:t>диаграмма</a:t>
            </a:r>
            <a:endParaRPr sz="30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0D45501-E35C-0F75-73F6-6AEE7C046C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4520" y="424113"/>
            <a:ext cx="2593764" cy="4295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46886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>
          <a:extLst>
            <a:ext uri="{FF2B5EF4-FFF2-40B4-BE49-F238E27FC236}">
              <a16:creationId xmlns:a16="http://schemas.microsoft.com/office/drawing/2014/main" id="{144BF088-9974-1037-940A-CA96D59E3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1">
            <a:extLst>
              <a:ext uri="{FF2B5EF4-FFF2-40B4-BE49-F238E27FC236}">
                <a16:creationId xmlns:a16="http://schemas.microsoft.com/office/drawing/2014/main" id="{A478948B-7EA0-D056-1397-EFBF3487B76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63180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dirty="0"/>
              <a:t>Сценарное тестирование </a:t>
            </a:r>
            <a:r>
              <a:rPr lang="en-US" sz="3000" dirty="0"/>
              <a:t>VA </a:t>
            </a:r>
            <a:r>
              <a:rPr lang="ru-RU" sz="3000" dirty="0"/>
              <a:t>и </a:t>
            </a:r>
            <a:r>
              <a:rPr lang="en-US" sz="3000" dirty="0" err="1"/>
              <a:t>YaxUnit</a:t>
            </a:r>
            <a:r>
              <a:rPr lang="en-US" sz="3000" dirty="0"/>
              <a:t>-</a:t>
            </a:r>
            <a:r>
              <a:rPr lang="ru-RU" sz="3000" dirty="0"/>
              <a:t>тесты</a:t>
            </a:r>
            <a:endParaRPr sz="3000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C3615CC-A20E-CFA3-B83C-40DED67D3B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2160" y="3114014"/>
            <a:ext cx="6217182" cy="1551602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613E382-8916-4AD4-77C6-24A8AE48AA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8958" y="752395"/>
            <a:ext cx="4199021" cy="2377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22367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>
          <a:extLst>
            <a:ext uri="{FF2B5EF4-FFF2-40B4-BE49-F238E27FC236}">
              <a16:creationId xmlns:a16="http://schemas.microsoft.com/office/drawing/2014/main" id="{762CD8F9-DA00-7266-0F99-5403D8BCB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39">
            <a:extLst>
              <a:ext uri="{FF2B5EF4-FFF2-40B4-BE49-F238E27FC236}">
                <a16:creationId xmlns:a16="http://schemas.microsoft.com/office/drawing/2014/main" id="{E8F6E38A-6356-25CC-05F4-8E850CCDA387}"/>
              </a:ext>
            </a:extLst>
          </p:cNvPr>
          <p:cNvSpPr txBox="1"/>
          <p:nvPr/>
        </p:nvSpPr>
        <p:spPr>
          <a:xfrm>
            <a:off x="560500" y="324881"/>
            <a:ext cx="8520600" cy="13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b="1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Выводы</a:t>
            </a:r>
            <a:endParaRPr sz="3000" b="1" dirty="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86" name="Google Shape;186;p39">
            <a:extLst>
              <a:ext uri="{FF2B5EF4-FFF2-40B4-BE49-F238E27FC236}">
                <a16:creationId xmlns:a16="http://schemas.microsoft.com/office/drawing/2014/main" id="{C649EA98-C20E-8A1A-2D7B-0D22A978C22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06739363"/>
              </p:ext>
            </p:extLst>
          </p:nvPr>
        </p:nvGraphicFramePr>
        <p:xfrm>
          <a:off x="778042" y="1545929"/>
          <a:ext cx="7239000" cy="2382382"/>
        </p:xfrm>
        <a:graphic>
          <a:graphicData uri="http://schemas.openxmlformats.org/drawingml/2006/table">
            <a:tbl>
              <a:tblPr>
                <a:noFill/>
                <a:tableStyleId>{DFE27160-EE70-478E-8643-84CA215F1B63}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26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Спроектирована базовая </a:t>
                      </a:r>
                      <a:r>
                        <a:rPr lang="en-U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MVP </a:t>
                      </a: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для организации прохождения медосмотров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26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Закреплены навыки работы с </a:t>
                      </a:r>
                      <a:r>
                        <a:rPr lang="en-U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RabbitMQ</a:t>
                      </a: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26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Разработаны сценарные тесты </a:t>
                      </a:r>
                      <a:r>
                        <a:rPr lang="en-U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VA </a:t>
                      </a: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и </a:t>
                      </a:r>
                      <a:r>
                        <a:rPr lang="en-U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YaxUnit</a:t>
                      </a: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тесты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26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Получен опыт взаимодействия </a:t>
                      </a:r>
                      <a:r>
                        <a:rPr lang="ru-RU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с ИИ-агентом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1782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905427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4" name="Google Shape;234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1602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44"/>
          <p:cNvSpPr txBox="1">
            <a:spLocks noGrp="1"/>
          </p:cNvSpPr>
          <p:nvPr>
            <p:ph type="title" idx="4294967295"/>
          </p:nvPr>
        </p:nvSpPr>
        <p:spPr>
          <a:xfrm>
            <a:off x="629000" y="1932525"/>
            <a:ext cx="7295100" cy="195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5000">
                <a:solidFill>
                  <a:schemeClr val="lt1"/>
                </a:solidFill>
              </a:rPr>
              <a:t>Спасибо за внимание!</a:t>
            </a:r>
            <a:endParaRPr sz="5000">
              <a:solidFill>
                <a:schemeClr val="lt1"/>
              </a:solidFill>
            </a:endParaRPr>
          </a:p>
        </p:txBody>
      </p:sp>
      <p:pic>
        <p:nvPicPr>
          <p:cNvPr id="236" name="Google Shape;236;p44" title="marker-graduating-cap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727300" y="231871"/>
            <a:ext cx="2270875" cy="3042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290</TotalTime>
  <Words>205</Words>
  <Application>Microsoft Office PowerPoint</Application>
  <PresentationFormat>Экран (16:9)</PresentationFormat>
  <Paragraphs>49</Paragraphs>
  <Slides>14</Slides>
  <Notes>14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2</vt:i4>
      </vt:variant>
      <vt:variant>
        <vt:lpstr>Заголовки слайдов</vt:lpstr>
      </vt:variant>
      <vt:variant>
        <vt:i4>14</vt:i4>
      </vt:variant>
    </vt:vector>
  </HeadingPairs>
  <TitlesOfParts>
    <vt:vector size="20" baseType="lpstr">
      <vt:lpstr>Arial</vt:lpstr>
      <vt:lpstr>Roboto Medium</vt:lpstr>
      <vt:lpstr>Roboto</vt:lpstr>
      <vt:lpstr>Courier New</vt:lpstr>
      <vt:lpstr>Светлая тема</vt:lpstr>
      <vt:lpstr>Светлая тема</vt:lpstr>
      <vt:lpstr>Презентация PowerPoint</vt:lpstr>
      <vt:lpstr>Защита проекта Тема: Организация прохождения медосмотров сотрудниками предприятий в поликлинике   </vt:lpstr>
      <vt:lpstr>План защиты проектной работы</vt:lpstr>
      <vt:lpstr>Презентация PowerPoint</vt:lpstr>
      <vt:lpstr>Какие технологии использовались </vt:lpstr>
      <vt:lpstr>Метаданные конфигурации «IT-Клиника»</vt:lpstr>
      <vt:lpstr>Бизнес-процесс “As-Is” в нотации BMPN</vt:lpstr>
      <vt:lpstr>Бизнес-процесс “To-Be” в нотации BMPN</vt:lpstr>
      <vt:lpstr>Прототипы форм: АРМ медицинской комиссии и Медицинское заключение</vt:lpstr>
      <vt:lpstr>Модель C4 процесса медосмотра</vt:lpstr>
      <vt:lpstr>ER-диаграмма</vt:lpstr>
      <vt:lpstr>Сценарное тестирование VA и YaxUnit-тесты</vt:lpstr>
      <vt:lpstr>Презентация PowerPoint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Ксения Губер</cp:lastModifiedBy>
  <cp:revision>27</cp:revision>
  <dcterms:modified xsi:type="dcterms:W3CDTF">2026-04-04T20:40:34Z</dcterms:modified>
</cp:coreProperties>
</file>